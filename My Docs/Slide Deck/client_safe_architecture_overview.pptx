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EBF1FF"/>
                </a:solidFill>
                <a:latin typeface="Segoe UI Semibold"/>
              </a:defRPr>
            </a:pPr>
            <a:r>
              <a:t>Live Commerce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B1D3"/>
                </a:solidFill>
                <a:latin typeface="Segoe UI"/>
              </a:defRPr>
            </a:pPr>
            <a:r>
              <a:t>Client-safe overview · Designed for confidence without exposing proprietary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EBF1FF"/>
                </a:solidFill>
                <a:latin typeface="Segoe UI"/>
              </a:defRPr>
            </a:pPr>
            <a:r>
              <a:t>Operationally strong: real-time event controls + fallback decision paths</a:t>
            </a:r>
          </a:p>
          <a:p>
            <a:pPr>
              <a:spcAft>
                <a:spcPts val="1600"/>
              </a:spcAft>
              <a:defRPr sz="2400">
                <a:solidFill>
                  <a:srgbClr val="EBF1FF"/>
                </a:solidFill>
                <a:latin typeface="Segoe UI"/>
              </a:defRPr>
            </a:pPr>
            <a:r>
              <a:t>Governed by clear policy modules and auditable event records</a:t>
            </a:r>
          </a:p>
          <a:p>
            <a:pPr>
              <a:spcAft>
                <a:spcPts val="1600"/>
              </a:spcAft>
              <a:defRPr sz="2400">
                <a:solidFill>
                  <a:srgbClr val="EBF1FF"/>
                </a:solidFill>
                <a:latin typeface="Segoe UI"/>
              </a:defRPr>
            </a:pPr>
            <a:r>
              <a:t>Built for repeatable execution across live sessions</a:t>
            </a:r>
          </a:p>
        </p:txBody>
      </p:sp>
      <p:pic>
        <p:nvPicPr>
          <p:cNvPr id="5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EBF1FF"/>
                </a:solidFill>
                <a:latin typeface="Segoe UI Semibold"/>
              </a:defRPr>
            </a:pPr>
            <a:r>
              <a:t>What Clients Receive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B1D3"/>
                </a:solidFill>
                <a:latin typeface="Segoe UI"/>
              </a:defRPr>
            </a:pPr>
            <a:r>
              <a:t>Business value, not internal secret sauce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EBF1FF"/>
                </a:solidFill>
                <a:latin typeface="Segoe UI"/>
              </a:defRPr>
            </a:pPr>
            <a:r>
              <a:t>Reliable live session orchestration</a:t>
            </a:r>
          </a:p>
          <a:p>
            <a:pPr>
              <a:spcAft>
                <a:spcPts val="1600"/>
              </a:spcAft>
              <a:defRPr sz="2200">
                <a:solidFill>
                  <a:srgbClr val="EBF1FF"/>
                </a:solidFill>
                <a:latin typeface="Segoe UI"/>
              </a:defRPr>
            </a:pPr>
            <a:r>
              <a:t>Pricing guardrails and fallback handling</a:t>
            </a:r>
          </a:p>
          <a:p>
            <a:pPr>
              <a:spcAft>
                <a:spcPts val="1600"/>
              </a:spcAft>
              <a:defRPr sz="2200">
                <a:solidFill>
                  <a:srgbClr val="EBF1FF"/>
                </a:solidFill>
                <a:latin typeface="Segoe UI"/>
              </a:defRPr>
            </a:pPr>
            <a:r>
              <a:t>Role-based operational dashboard</a:t>
            </a:r>
          </a:p>
          <a:p>
            <a:pPr>
              <a:spcAft>
                <a:spcPts val="1600"/>
              </a:spcAft>
              <a:defRPr sz="2200">
                <a:solidFill>
                  <a:srgbClr val="EBF1FF"/>
                </a:solidFill>
                <a:latin typeface="Segoe UI"/>
              </a:defRPr>
            </a:pPr>
            <a:r>
              <a:t>Post-event traceability and performance reporting</a:t>
            </a:r>
          </a:p>
        </p:txBody>
      </p:sp>
      <p:pic>
        <p:nvPicPr>
          <p:cNvPr id="5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EBF1FF"/>
                </a:solidFill>
                <a:latin typeface="Segoe UI Semibold"/>
              </a:defRPr>
            </a:pPr>
            <a:r>
              <a:t>System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7CBA6"/>
                </a:solidFill>
                <a:latin typeface="Segoe UI Semibold"/>
              </a:defRPr>
            </a:pPr>
            <a:r>
              <a:t>Execution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5303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Presentation layer (public + operator views)</a:t>
            </a:r>
          </a:p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Real-time bidding and event control services</a:t>
            </a:r>
          </a:p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Decision orchestration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7CBA6"/>
                </a:solidFill>
                <a:latin typeface="Segoe UI Semibold"/>
              </a:defRPr>
            </a:pPr>
            <a:r>
              <a:t>Intelligence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240280"/>
            <a:ext cx="47548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Valuation integration adapters</a:t>
            </a:r>
          </a:p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Metrics and analytics pipeline</a:t>
            </a:r>
          </a:p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Identity, access, and audit trail</a:t>
            </a:r>
          </a:p>
        </p:txBody>
      </p:sp>
      <p:pic>
        <p:nvPicPr>
          <p:cNvPr id="7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EBF1FF"/>
                </a:solidFill>
                <a:latin typeface="Segoe UI Semibold"/>
              </a:defRPr>
            </a:pPr>
            <a:r>
              <a:t>Runtime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EBF1FF"/>
                </a:solidFill>
                <a:latin typeface="Segoe UI"/>
              </a:defRPr>
            </a:pPr>
            <a:r>
              <a:t>1) Session configured with inventory and valuation references</a:t>
            </a:r>
          </a:p>
          <a:p>
            <a:pPr>
              <a:spcAft>
                <a:spcPts val="1600"/>
              </a:spcAft>
              <a:defRPr sz="2000">
                <a:solidFill>
                  <a:srgbClr val="EBF1FF"/>
                </a:solidFill>
                <a:latin typeface="Segoe UI"/>
              </a:defRPr>
            </a:pPr>
            <a:r>
              <a:t>2) Live event executes with controlled bid intake</a:t>
            </a:r>
          </a:p>
          <a:p>
            <a:pPr>
              <a:spcAft>
                <a:spcPts val="1600"/>
              </a:spcAft>
              <a:defRPr sz="2000">
                <a:solidFill>
                  <a:srgbClr val="EBF1FF"/>
                </a:solidFill>
                <a:latin typeface="Segoe UI"/>
              </a:defRPr>
            </a:pPr>
            <a:r>
              <a:t>3) Policy evaluation at close selects outcome path</a:t>
            </a:r>
          </a:p>
          <a:p>
            <a:pPr>
              <a:spcAft>
                <a:spcPts val="1600"/>
              </a:spcAft>
              <a:defRPr sz="2000">
                <a:solidFill>
                  <a:srgbClr val="EBF1FF"/>
                </a:solidFill>
                <a:latin typeface="Segoe UI"/>
              </a:defRPr>
            </a:pPr>
            <a:r>
              <a:t>4) Checkout or fallback offer orchestration</a:t>
            </a:r>
          </a:p>
          <a:p>
            <a:pPr>
              <a:spcAft>
                <a:spcPts val="1600"/>
              </a:spcAft>
              <a:defRPr sz="2000">
                <a:solidFill>
                  <a:srgbClr val="EBF1FF"/>
                </a:solidFill>
                <a:latin typeface="Segoe UI"/>
              </a:defRPr>
            </a:pPr>
            <a:r>
              <a:t>5) Metrics + notices written for post-run review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EBF1FF"/>
                </a:solidFill>
                <a:latin typeface="Segoe UI Semibold"/>
              </a:defRPr>
            </a:pPr>
            <a:r>
              <a:t>Control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7CBA6"/>
                </a:solidFill>
                <a:latin typeface="Segoe UI Semibold"/>
              </a:defRPr>
            </a:pPr>
            <a:r>
              <a:t>Operator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5303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Session activation</a:t>
            </a:r>
          </a:p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Item/row targeting</a:t>
            </a:r>
          </a:p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Guided fallback actions</a:t>
            </a:r>
          </a:p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Single-pane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7CBA6"/>
                </a:solidFill>
                <a:latin typeface="Segoe UI Semibold"/>
              </a:defRPr>
            </a:pPr>
            <a:r>
              <a:t>Risk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240280"/>
            <a:ext cx="47548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Policy thresholds</a:t>
            </a:r>
          </a:p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Soft/hard validation options</a:t>
            </a:r>
          </a:p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Restricted internal insights</a:t>
            </a:r>
          </a:p>
          <a:p>
            <a:pPr>
              <a:spcAft>
                <a:spcPts val="1000"/>
              </a:spcAft>
              <a:defRPr sz="1800">
                <a:solidFill>
                  <a:srgbClr val="EBF1FF"/>
                </a:solidFill>
                <a:latin typeface="Segoe UI"/>
              </a:defRPr>
            </a:pPr>
            <a:r>
              <a:t>• Event-level traceability</a:t>
            </a:r>
          </a:p>
        </p:txBody>
      </p:sp>
      <p:pic>
        <p:nvPicPr>
          <p:cNvPr id="7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EBF1FF"/>
                </a:solidFill>
                <a:latin typeface="Segoe UI Semibold"/>
              </a:defRPr>
            </a:pPr>
            <a:r>
              <a:t>Architecture Gems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EBF1FF"/>
                </a:solidFill>
                <a:latin typeface="Segoe UI"/>
              </a:defRPr>
            </a:pPr>
            <a:r>
              <a:t>Policy-first orchestration keeps outcomes consistent under pressure</a:t>
            </a:r>
          </a:p>
          <a:p>
            <a:pPr>
              <a:spcAft>
                <a:spcPts val="1600"/>
              </a:spcAft>
              <a:defRPr sz="2000">
                <a:solidFill>
                  <a:srgbClr val="EBF1FF"/>
                </a:solidFill>
                <a:latin typeface="Segoe UI"/>
              </a:defRPr>
            </a:pPr>
            <a:r>
              <a:t>Fallback path protects value when primary close conditions are not met</a:t>
            </a:r>
          </a:p>
          <a:p>
            <a:pPr>
              <a:spcAft>
                <a:spcPts val="1600"/>
              </a:spcAft>
              <a:defRPr sz="2000">
                <a:solidFill>
                  <a:srgbClr val="EBF1FF"/>
                </a:solidFill>
                <a:latin typeface="Segoe UI"/>
              </a:defRPr>
            </a:pPr>
            <a:r>
              <a:t>Row-level targeting keeps live execution aligned with inventory state</a:t>
            </a:r>
          </a:p>
          <a:p>
            <a:pPr>
              <a:spcAft>
                <a:spcPts val="1600"/>
              </a:spcAft>
              <a:defRPr sz="2000">
                <a:solidFill>
                  <a:srgbClr val="EBF1FF"/>
                </a:solidFill>
                <a:latin typeface="Segoe UI"/>
              </a:defRPr>
            </a:pPr>
            <a:r>
              <a:t>Audit-friendly notices and metrics reduce post-event ambiguity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EBF1FF"/>
                </a:solidFill>
                <a:latin typeface="Segoe UI Semibold"/>
              </a:defRPr>
            </a:pPr>
            <a:r>
              <a:t>Security &amp; Compliance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Least-privilege access for internal operational surfaces</a:t>
            </a:r>
          </a:p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Secrets and privileged keys remain server-side</a:t>
            </a:r>
          </a:p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Separation of public experience and restricted controls</a:t>
            </a:r>
          </a:p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Traceable decisions for governance and replay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EBF1FF"/>
                </a:solidFill>
                <a:latin typeface="Segoe UI Semibold"/>
              </a:defRPr>
            </a:pPr>
            <a:r>
              <a:t>Scalability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Modular architecture supports phased expansion</a:t>
            </a:r>
          </a:p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Near real-time visibility for operators during event execution</a:t>
            </a:r>
          </a:p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Graceful fallback behavior if optional integrations are unavailable</a:t>
            </a:r>
          </a:p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Deployment strategy can align with client cloud standards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EBF1FF"/>
                </a:solidFill>
                <a:latin typeface="Segoe UI Semibold"/>
              </a:defRPr>
            </a:pPr>
            <a:r>
              <a:t>Engagement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82880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Phase 1: Discovery + policy mapping</a:t>
            </a:r>
          </a:p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Phase 2: Pilot with measured success criteria</a:t>
            </a:r>
          </a:p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Phase 3: Controlled rollout with operator enablement</a:t>
            </a:r>
          </a:p>
          <a:p>
            <a:pPr>
              <a:spcAft>
                <a:spcPts val="1600"/>
              </a:spcAft>
              <a:defRPr sz="2100">
                <a:solidFill>
                  <a:srgbClr val="EBF1FF"/>
                </a:solidFill>
                <a:latin typeface="Segoe UI"/>
              </a:defRPr>
            </a:pPr>
            <a:r>
              <a:t>NDA deep-dive available for implementation specifics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>
                <a:solidFill>
                  <a:srgbClr val="EBF1FF"/>
                </a:solidFill>
                <a:latin typeface="Segoe UI Semibold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EBF1FF"/>
                </a:solidFill>
                <a:latin typeface="Segoe UI"/>
              </a:defRPr>
            </a:pPr>
            <a:r>
              <a:t>This architecture is built to execute live commerce with discipline.</a:t>
            </a:r>
          </a:p>
          <a:p>
            <a:pPr>
              <a:spcAft>
                <a:spcPts val="1600"/>
              </a:spcAft>
              <a:defRPr sz="2200">
                <a:solidFill>
                  <a:srgbClr val="EBF1FF"/>
                </a:solidFill>
                <a:latin typeface="Segoe UI"/>
              </a:defRPr>
            </a:pPr>
            <a:r>
              <a:t>It combines operational clarity, policy guardrails, and measurable outcomes.</a:t>
            </a:r>
          </a:p>
          <a:p>
            <a:pPr>
              <a:spcAft>
                <a:spcPts val="1600"/>
              </a:spcAft>
              <a:defRPr sz="2200">
                <a:solidFill>
                  <a:srgbClr val="EBF1FF"/>
                </a:solidFill>
                <a:latin typeface="Segoe UI"/>
              </a:defRPr>
            </a:pPr>
            <a:r>
              <a:t>Next step: align pilot scope to your event model and governance requirements.</a:t>
            </a:r>
          </a:p>
        </p:txBody>
      </p:sp>
      <p:pic>
        <p:nvPicPr>
          <p:cNvPr id="4" name="WGL_Logo" descr="wegonelive_logo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182880"/>
            <a:ext cx="1325880" cy="1060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