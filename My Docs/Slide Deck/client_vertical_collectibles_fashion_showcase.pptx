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E1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20040"/>
            <a:ext cx="10972800" cy="10058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500">
                <a:solidFill>
                  <a:srgbClr val="F0F6FF"/>
                </a:solidFill>
                <a:latin typeface="Segoe UI Semibold"/>
              </a:defRPr>
            </a:pPr>
            <a:r>
              <a:t>Client Vertical Showcase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1078992"/>
            <a:ext cx="1088136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>
                <a:solidFill>
                  <a:srgbClr val="A4B6D8"/>
                </a:solidFill>
                <a:latin typeface="Segoe UI"/>
              </a:defRPr>
            </a:pPr>
            <a:r>
              <a:t>Collectibles (Coins &amp; Stamps) + Independent Fashion &amp; Design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572768"/>
            <a:ext cx="10972800" cy="457200"/>
          </a:xfrm>
          <a:prstGeom prst="rect">
            <a:avLst/>
          </a:prstGeom>
          <a:solidFill>
            <a:srgbClr val="121A2C"/>
          </a:solidFill>
          <a:ln>
            <a:solidFill>
              <a:srgbClr val="42E9B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400">
                <a:solidFill>
                  <a:srgbClr val="42E9BD"/>
                </a:solidFill>
                <a:latin typeface="Segoe UI"/>
              </a:defRPr>
            </a:pPr>
            <a:r>
              <a:t>Professional by design: elevated client narrative with proprietary logic intentionally abstracted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2212848"/>
            <a:ext cx="10789920" cy="43891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400"/>
              </a:spcAft>
              <a:defRPr sz="2200">
                <a:solidFill>
                  <a:srgbClr val="F0F6FF"/>
                </a:solidFill>
                <a:latin typeface="Segoe UI"/>
              </a:defRPr>
            </a:pPr>
            <a:r>
              <a:t>Built for high-variance inventory where trust, speed, and control must coexist</a:t>
            </a:r>
          </a:p>
          <a:p>
            <a:pPr>
              <a:spcAft>
                <a:spcPts val="1400"/>
              </a:spcAft>
              <a:defRPr sz="2200">
                <a:solidFill>
                  <a:srgbClr val="F0F6FF"/>
                </a:solidFill>
                <a:latin typeface="Segoe UI"/>
              </a:defRPr>
            </a:pPr>
            <a:r>
              <a:t>Supports premium storytelling without sacrificing operational discipline</a:t>
            </a:r>
          </a:p>
          <a:p>
            <a:pPr>
              <a:spcAft>
                <a:spcPts val="1400"/>
              </a:spcAft>
              <a:defRPr sz="2200">
                <a:solidFill>
                  <a:srgbClr val="F0F6FF"/>
                </a:solidFill>
                <a:latin typeface="Segoe UI"/>
              </a:defRPr>
            </a:pPr>
            <a:r>
              <a:t>Turns complex close decisions into clear, auditable operator actions</a:t>
            </a:r>
          </a:p>
        </p:txBody>
      </p:sp>
      <p:pic>
        <p:nvPicPr>
          <p:cNvPr id="6" name="WGL_Logo" descr="wegonelive_logo_only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91495" y="182880"/>
            <a:ext cx="1325880" cy="1060704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E1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20040"/>
            <a:ext cx="10972800" cy="10058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500">
                <a:solidFill>
                  <a:srgbClr val="F0F6FF"/>
                </a:solidFill>
                <a:latin typeface="Segoe UI Semibold"/>
              </a:defRPr>
            </a:pPr>
            <a:r>
              <a:t>Vertical Fit</a:t>
            </a:r>
          </a:p>
        </p:txBody>
      </p:sp>
      <p:sp>
        <p:nvSpPr>
          <p:cNvPr id="3" name="Rectangle 2"/>
          <p:cNvSpPr/>
          <p:nvPr/>
        </p:nvSpPr>
        <p:spPr>
          <a:xfrm>
            <a:off x="685800" y="1828800"/>
            <a:ext cx="5440680" cy="4480560"/>
          </a:xfrm>
          <a:prstGeom prst="rect">
            <a:avLst/>
          </a:prstGeom>
          <a:solidFill>
            <a:srgbClr val="121A2C"/>
          </a:solidFill>
          <a:ln>
            <a:solidFill>
              <a:srgbClr val="253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32688" y="2029968"/>
            <a:ext cx="4846320" cy="47548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100">
                <a:solidFill>
                  <a:srgbClr val="F5C45D"/>
                </a:solidFill>
                <a:latin typeface="Segoe UI Semibold"/>
              </a:defRPr>
            </a:pPr>
            <a:r>
              <a:t>Collectibles: Coins &amp; Stamps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50976" y="2560320"/>
            <a:ext cx="4754880" cy="34747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900"/>
              </a:spcAft>
              <a:defRPr sz="1600">
                <a:solidFill>
                  <a:srgbClr val="F0F6FF"/>
                </a:solidFill>
                <a:latin typeface="Segoe UI"/>
              </a:defRPr>
            </a:pPr>
            <a:r>
              <a:t>• Condition and rarity-sensitive pricing moments</a:t>
            </a:r>
          </a:p>
          <a:p>
            <a:pPr>
              <a:spcAft>
                <a:spcPts val="900"/>
              </a:spcAft>
              <a:defRPr sz="1600">
                <a:solidFill>
                  <a:srgbClr val="F0F6FF"/>
                </a:solidFill>
                <a:latin typeface="Segoe UI"/>
              </a:defRPr>
            </a:pPr>
            <a:r>
              <a:t>• Value-protection logic for uncertain close outcomes</a:t>
            </a:r>
          </a:p>
          <a:p>
            <a:pPr>
              <a:spcAft>
                <a:spcPts val="900"/>
              </a:spcAft>
              <a:defRPr sz="1600">
                <a:solidFill>
                  <a:srgbClr val="F0F6FF"/>
                </a:solidFill>
                <a:latin typeface="Segoe UI"/>
              </a:defRPr>
            </a:pPr>
            <a:r>
              <a:t>• Traceable decisions for buyer confidence</a:t>
            </a:r>
          </a:p>
        </p:txBody>
      </p:sp>
      <p:sp>
        <p:nvSpPr>
          <p:cNvPr id="6" name="Rectangle 5"/>
          <p:cNvSpPr/>
          <p:nvPr/>
        </p:nvSpPr>
        <p:spPr>
          <a:xfrm>
            <a:off x="6355080" y="1828800"/>
            <a:ext cx="5166360" cy="4480560"/>
          </a:xfrm>
          <a:prstGeom prst="rect">
            <a:avLst/>
          </a:prstGeom>
          <a:solidFill>
            <a:srgbClr val="121A2C"/>
          </a:solidFill>
          <a:ln>
            <a:solidFill>
              <a:srgbClr val="253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601968" y="2029968"/>
            <a:ext cx="4663440" cy="47548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100">
                <a:solidFill>
                  <a:srgbClr val="F47EA2"/>
                </a:solidFill>
                <a:latin typeface="Segoe UI Semibold"/>
              </a:defRPr>
            </a:pPr>
            <a:r>
              <a:t>Independent Fashion &amp; Design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620256" y="2560320"/>
            <a:ext cx="4572000" cy="34747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900"/>
              </a:spcAft>
              <a:defRPr sz="1600">
                <a:solidFill>
                  <a:srgbClr val="F0F6FF"/>
                </a:solidFill>
                <a:latin typeface="Segoe UI"/>
              </a:defRPr>
            </a:pPr>
            <a:r>
              <a:t>• One-off drops and non-store inventory</a:t>
            </a:r>
          </a:p>
          <a:p>
            <a:pPr>
              <a:spcAft>
                <a:spcPts val="900"/>
              </a:spcAft>
              <a:defRPr sz="1600">
                <a:solidFill>
                  <a:srgbClr val="F0F6FF"/>
                </a:solidFill>
                <a:latin typeface="Segoe UI"/>
              </a:defRPr>
            </a:pPr>
            <a:r>
              <a:t>• Live momentum with controlled fallback paths</a:t>
            </a:r>
          </a:p>
          <a:p>
            <a:pPr>
              <a:spcAft>
                <a:spcPts val="900"/>
              </a:spcAft>
              <a:defRPr sz="1600">
                <a:solidFill>
                  <a:srgbClr val="F0F6FF"/>
                </a:solidFill>
                <a:latin typeface="Segoe UI"/>
              </a:defRPr>
            </a:pPr>
            <a:r>
              <a:t>• Creator-friendly operator workflows</a:t>
            </a:r>
          </a:p>
        </p:txBody>
      </p:sp>
      <p:pic>
        <p:nvPicPr>
          <p:cNvPr id="9" name="WGL_Logo" descr="wegonelive_logo_only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91495" y="182880"/>
            <a:ext cx="1325880" cy="1060704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E1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20040"/>
            <a:ext cx="10972800" cy="10058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500">
                <a:solidFill>
                  <a:srgbClr val="F0F6FF"/>
                </a:solidFill>
                <a:latin typeface="Segoe UI Semibold"/>
              </a:defRPr>
            </a:pPr>
            <a:r>
              <a:t>Experience Architecture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1920240"/>
            <a:ext cx="10789920" cy="43891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400"/>
              </a:spcAft>
              <a:defRPr sz="2000">
                <a:solidFill>
                  <a:srgbClr val="F0F6FF"/>
                </a:solidFill>
                <a:latin typeface="Segoe UI"/>
              </a:defRPr>
            </a:pPr>
            <a:r>
              <a:t>1) Curated session setup with inventory + valuation references</a:t>
            </a:r>
          </a:p>
          <a:p>
            <a:pPr>
              <a:spcAft>
                <a:spcPts val="1400"/>
              </a:spcAft>
              <a:defRPr sz="2000">
                <a:solidFill>
                  <a:srgbClr val="F0F6FF"/>
                </a:solidFill>
                <a:latin typeface="Segoe UI"/>
              </a:defRPr>
            </a:pPr>
            <a:r>
              <a:t>2) Real-time event execution with operator control surfaces</a:t>
            </a:r>
          </a:p>
          <a:p>
            <a:pPr>
              <a:spcAft>
                <a:spcPts val="1400"/>
              </a:spcAft>
              <a:defRPr sz="2000">
                <a:solidFill>
                  <a:srgbClr val="F0F6FF"/>
                </a:solidFill>
                <a:latin typeface="Segoe UI"/>
              </a:defRPr>
            </a:pPr>
            <a:r>
              <a:t>3) Policy-guided close path selection</a:t>
            </a:r>
          </a:p>
          <a:p>
            <a:pPr>
              <a:spcAft>
                <a:spcPts val="1400"/>
              </a:spcAft>
              <a:defRPr sz="2000">
                <a:solidFill>
                  <a:srgbClr val="F0F6FF"/>
                </a:solidFill>
                <a:latin typeface="Segoe UI"/>
              </a:defRPr>
            </a:pPr>
            <a:r>
              <a:t>4) Structured fallback offer sequence when required</a:t>
            </a:r>
          </a:p>
          <a:p>
            <a:pPr>
              <a:spcAft>
                <a:spcPts val="1400"/>
              </a:spcAft>
              <a:defRPr sz="2000">
                <a:solidFill>
                  <a:srgbClr val="F0F6FF"/>
                </a:solidFill>
                <a:latin typeface="Segoe UI"/>
              </a:defRPr>
            </a:pPr>
            <a:r>
              <a:t>5) Metrics and notice capture for post-event replay</a:t>
            </a:r>
          </a:p>
        </p:txBody>
      </p:sp>
      <p:pic>
        <p:nvPicPr>
          <p:cNvPr id="4" name="WGL_Logo" descr="wegonelive_logo_only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91495" y="182880"/>
            <a:ext cx="1325880" cy="1060704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E1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20040"/>
            <a:ext cx="10972800" cy="10058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500">
                <a:solidFill>
                  <a:srgbClr val="F0F6FF"/>
                </a:solidFill>
                <a:latin typeface="Segoe UI Semibold"/>
              </a:defRPr>
            </a:pPr>
            <a:r>
              <a:t>What Prospects Can See</a:t>
            </a:r>
          </a:p>
        </p:txBody>
      </p:sp>
      <p:sp>
        <p:nvSpPr>
          <p:cNvPr id="3" name="Rectangle 2"/>
          <p:cNvSpPr/>
          <p:nvPr/>
        </p:nvSpPr>
        <p:spPr>
          <a:xfrm>
            <a:off x="685800" y="1828800"/>
            <a:ext cx="5440680" cy="4480560"/>
          </a:xfrm>
          <a:prstGeom prst="rect">
            <a:avLst/>
          </a:prstGeom>
          <a:solidFill>
            <a:srgbClr val="121A2C"/>
          </a:solidFill>
          <a:ln>
            <a:solidFill>
              <a:srgbClr val="253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32688" y="2029968"/>
            <a:ext cx="4846320" cy="47548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100">
                <a:solidFill>
                  <a:srgbClr val="42E9BD"/>
                </a:solidFill>
                <a:latin typeface="Segoe UI Semibold"/>
              </a:defRPr>
            </a:pPr>
            <a:r>
              <a:t>Visible Strengths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50976" y="2560320"/>
            <a:ext cx="4754880" cy="34747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900"/>
              </a:spcAft>
              <a:defRPr sz="1600">
                <a:solidFill>
                  <a:srgbClr val="F0F6FF"/>
                </a:solidFill>
                <a:latin typeface="Segoe UI"/>
              </a:defRPr>
            </a:pPr>
            <a:r>
              <a:t>• Session-level row targeting</a:t>
            </a:r>
          </a:p>
          <a:p>
            <a:pPr>
              <a:spcAft>
                <a:spcPts val="900"/>
              </a:spcAft>
              <a:defRPr sz="1600">
                <a:solidFill>
                  <a:srgbClr val="F0F6FF"/>
                </a:solidFill>
                <a:latin typeface="Segoe UI"/>
              </a:defRPr>
            </a:pPr>
            <a:r>
              <a:t>• Clear in-event decision actions</a:t>
            </a:r>
          </a:p>
          <a:p>
            <a:pPr>
              <a:spcAft>
                <a:spcPts val="900"/>
              </a:spcAft>
              <a:defRPr sz="1600">
                <a:solidFill>
                  <a:srgbClr val="F0F6FF"/>
                </a:solidFill>
                <a:latin typeface="Segoe UI"/>
              </a:defRPr>
            </a:pPr>
            <a:r>
              <a:t>• Internal metrics for operators</a:t>
            </a:r>
          </a:p>
          <a:p>
            <a:pPr>
              <a:spcAft>
                <a:spcPts val="900"/>
              </a:spcAft>
              <a:defRPr sz="1600">
                <a:solidFill>
                  <a:srgbClr val="F0F6FF"/>
                </a:solidFill>
                <a:latin typeface="Segoe UI"/>
              </a:defRPr>
            </a:pPr>
            <a:r>
              <a:t>• Reliable event traceability</a:t>
            </a:r>
          </a:p>
        </p:txBody>
      </p:sp>
      <p:sp>
        <p:nvSpPr>
          <p:cNvPr id="6" name="Rectangle 5"/>
          <p:cNvSpPr/>
          <p:nvPr/>
        </p:nvSpPr>
        <p:spPr>
          <a:xfrm>
            <a:off x="6355080" y="1828800"/>
            <a:ext cx="5166360" cy="4480560"/>
          </a:xfrm>
          <a:prstGeom prst="rect">
            <a:avLst/>
          </a:prstGeom>
          <a:solidFill>
            <a:srgbClr val="121A2C"/>
          </a:solidFill>
          <a:ln>
            <a:solidFill>
              <a:srgbClr val="253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601968" y="2029968"/>
            <a:ext cx="4663440" cy="47548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100">
                <a:solidFill>
                  <a:srgbClr val="F5C45D"/>
                </a:solidFill>
                <a:latin typeface="Segoe UI Semibold"/>
              </a:defRPr>
            </a:pPr>
            <a:r>
              <a:t>Protected Internals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620256" y="2560320"/>
            <a:ext cx="4572000" cy="34747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900"/>
              </a:spcAft>
              <a:defRPr sz="1600">
                <a:solidFill>
                  <a:srgbClr val="F0F6FF"/>
                </a:solidFill>
                <a:latin typeface="Segoe UI"/>
              </a:defRPr>
            </a:pPr>
            <a:r>
              <a:t>• Threshold tuning mechanics</a:t>
            </a:r>
          </a:p>
          <a:p>
            <a:pPr>
              <a:spcAft>
                <a:spcPts val="900"/>
              </a:spcAft>
              <a:defRPr sz="1600">
                <a:solidFill>
                  <a:srgbClr val="F0F6FF"/>
                </a:solidFill>
                <a:latin typeface="Segoe UI"/>
              </a:defRPr>
            </a:pPr>
            <a:r>
              <a:t>• Sequencing heuristics</a:t>
            </a:r>
          </a:p>
          <a:p>
            <a:pPr>
              <a:spcAft>
                <a:spcPts val="900"/>
              </a:spcAft>
              <a:defRPr sz="1600">
                <a:solidFill>
                  <a:srgbClr val="F0F6FF"/>
                </a:solidFill>
                <a:latin typeface="Segoe UI"/>
              </a:defRPr>
            </a:pPr>
            <a:r>
              <a:t>• Optimization strategy</a:t>
            </a:r>
          </a:p>
          <a:p>
            <a:pPr>
              <a:spcAft>
                <a:spcPts val="900"/>
              </a:spcAft>
              <a:defRPr sz="1600">
                <a:solidFill>
                  <a:srgbClr val="F0F6FF"/>
                </a:solidFill>
                <a:latin typeface="Segoe UI"/>
              </a:defRPr>
            </a:pPr>
            <a:r>
              <a:t>• Detailed internals under NDA</a:t>
            </a:r>
          </a:p>
        </p:txBody>
      </p:sp>
      <p:pic>
        <p:nvPicPr>
          <p:cNvPr id="9" name="WGL_Logo" descr="wegonelive_logo_only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91495" y="182880"/>
            <a:ext cx="1325880" cy="1060704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E1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20040"/>
            <a:ext cx="10972800" cy="10058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500">
                <a:solidFill>
                  <a:srgbClr val="F0F6FF"/>
                </a:solidFill>
                <a:latin typeface="Segoe UI Semibold"/>
              </a:defRPr>
            </a:pPr>
            <a:r>
              <a:t>Business Outcomes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2011680"/>
            <a:ext cx="10789920" cy="43891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400"/>
              </a:spcAft>
              <a:defRPr sz="2200">
                <a:solidFill>
                  <a:srgbClr val="F0F6FF"/>
                </a:solidFill>
                <a:latin typeface="Segoe UI"/>
              </a:defRPr>
            </a:pPr>
            <a:r>
              <a:t>Higher operator confidence during complex live close moments</a:t>
            </a:r>
          </a:p>
          <a:p>
            <a:pPr>
              <a:spcAft>
                <a:spcPts val="1400"/>
              </a:spcAft>
              <a:defRPr sz="2200">
                <a:solidFill>
                  <a:srgbClr val="F0F6FF"/>
                </a:solidFill>
                <a:latin typeface="Segoe UI"/>
              </a:defRPr>
            </a:pPr>
            <a:r>
              <a:t>Reduced margin leakage through policy-governed fallback decisions</a:t>
            </a:r>
          </a:p>
          <a:p>
            <a:pPr>
              <a:spcAft>
                <a:spcPts val="1400"/>
              </a:spcAft>
              <a:defRPr sz="2200">
                <a:solidFill>
                  <a:srgbClr val="F0F6FF"/>
                </a:solidFill>
                <a:latin typeface="Segoe UI"/>
              </a:defRPr>
            </a:pPr>
            <a:r>
              <a:t>Stronger buyer trust from consistent and transparent event handling</a:t>
            </a:r>
          </a:p>
          <a:p>
            <a:pPr>
              <a:spcAft>
                <a:spcPts val="1400"/>
              </a:spcAft>
              <a:defRPr sz="2200">
                <a:solidFill>
                  <a:srgbClr val="F0F6FF"/>
                </a:solidFill>
                <a:latin typeface="Segoe UI"/>
              </a:defRPr>
            </a:pPr>
            <a:r>
              <a:t>Cleaner post-event coaching via structured event records</a:t>
            </a:r>
          </a:p>
        </p:txBody>
      </p:sp>
      <p:pic>
        <p:nvPicPr>
          <p:cNvPr id="4" name="WGL_Logo" descr="wegonelive_logo_only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91495" y="182880"/>
            <a:ext cx="1325880" cy="1060704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E1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20040"/>
            <a:ext cx="10972800" cy="10058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500">
                <a:solidFill>
                  <a:srgbClr val="F0F6FF"/>
                </a:solidFill>
                <a:latin typeface="Segoe UI Semibold"/>
              </a:defRPr>
            </a:pPr>
            <a:r>
              <a:t>Pilot Blueprint</a:t>
            </a:r>
          </a:p>
        </p:txBody>
      </p:sp>
      <p:sp>
        <p:nvSpPr>
          <p:cNvPr id="3" name="Rectangle 2"/>
          <p:cNvSpPr/>
          <p:nvPr/>
        </p:nvSpPr>
        <p:spPr>
          <a:xfrm>
            <a:off x="685800" y="1828800"/>
            <a:ext cx="5440680" cy="4480560"/>
          </a:xfrm>
          <a:prstGeom prst="rect">
            <a:avLst/>
          </a:prstGeom>
          <a:solidFill>
            <a:srgbClr val="121A2C"/>
          </a:solidFill>
          <a:ln>
            <a:solidFill>
              <a:srgbClr val="253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32688" y="2029968"/>
            <a:ext cx="4846320" cy="47548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100">
                <a:solidFill>
                  <a:srgbClr val="42E9BD"/>
                </a:solidFill>
                <a:latin typeface="Segoe UI Semibold"/>
              </a:defRPr>
            </a:pPr>
            <a:r>
              <a:t>Pilot Scope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50976" y="2560320"/>
            <a:ext cx="4754880" cy="34747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900"/>
              </a:spcAft>
              <a:defRPr sz="1600">
                <a:solidFill>
                  <a:srgbClr val="F0F6FF"/>
                </a:solidFill>
                <a:latin typeface="Segoe UI"/>
              </a:defRPr>
            </a:pPr>
            <a:r>
              <a:t>• 1 curated session type</a:t>
            </a:r>
          </a:p>
          <a:p>
            <a:pPr>
              <a:spcAft>
                <a:spcPts val="900"/>
              </a:spcAft>
              <a:defRPr sz="1600">
                <a:solidFill>
                  <a:srgbClr val="F0F6FF"/>
                </a:solidFill>
                <a:latin typeface="Segoe UI"/>
              </a:defRPr>
            </a:pPr>
            <a:r>
              <a:t>• 1 operator team</a:t>
            </a:r>
          </a:p>
          <a:p>
            <a:pPr>
              <a:spcAft>
                <a:spcPts val="900"/>
              </a:spcAft>
              <a:defRPr sz="1600">
                <a:solidFill>
                  <a:srgbClr val="F0F6FF"/>
                </a:solidFill>
                <a:latin typeface="Segoe UI"/>
              </a:defRPr>
            </a:pPr>
            <a:r>
              <a:t>• 2 scenario paths (direct + fallback)</a:t>
            </a:r>
          </a:p>
          <a:p>
            <a:pPr>
              <a:spcAft>
                <a:spcPts val="900"/>
              </a:spcAft>
              <a:defRPr sz="1600">
                <a:solidFill>
                  <a:srgbClr val="F0F6FF"/>
                </a:solidFill>
                <a:latin typeface="Segoe UI"/>
              </a:defRPr>
            </a:pPr>
            <a:r>
              <a:t>• Defined success scorecard</a:t>
            </a:r>
          </a:p>
        </p:txBody>
      </p:sp>
      <p:sp>
        <p:nvSpPr>
          <p:cNvPr id="6" name="Rectangle 5"/>
          <p:cNvSpPr/>
          <p:nvPr/>
        </p:nvSpPr>
        <p:spPr>
          <a:xfrm>
            <a:off x="6355080" y="1828800"/>
            <a:ext cx="5166360" cy="4480560"/>
          </a:xfrm>
          <a:prstGeom prst="rect">
            <a:avLst/>
          </a:prstGeom>
          <a:solidFill>
            <a:srgbClr val="121A2C"/>
          </a:solidFill>
          <a:ln>
            <a:solidFill>
              <a:srgbClr val="253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601968" y="2029968"/>
            <a:ext cx="4663440" cy="47548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100">
                <a:solidFill>
                  <a:srgbClr val="F5C45D"/>
                </a:solidFill>
                <a:latin typeface="Segoe UI Semibold"/>
              </a:defRPr>
            </a:pPr>
            <a:r>
              <a:t>Readiness Gate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620256" y="2560320"/>
            <a:ext cx="4572000" cy="34747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900"/>
              </a:spcAft>
              <a:defRPr sz="1600">
                <a:solidFill>
                  <a:srgbClr val="F0F6FF"/>
                </a:solidFill>
                <a:latin typeface="Segoe UI"/>
              </a:defRPr>
            </a:pPr>
            <a:r>
              <a:t>• Go/No-Go runbook completion</a:t>
            </a:r>
          </a:p>
          <a:p>
            <a:pPr>
              <a:spcAft>
                <a:spcPts val="900"/>
              </a:spcAft>
              <a:defRPr sz="1600">
                <a:solidFill>
                  <a:srgbClr val="F0F6FF"/>
                </a:solidFill>
                <a:latin typeface="Segoe UI"/>
              </a:defRPr>
            </a:pPr>
            <a:r>
              <a:t>• Decision quality checks</a:t>
            </a:r>
          </a:p>
          <a:p>
            <a:pPr>
              <a:spcAft>
                <a:spcPts val="900"/>
              </a:spcAft>
              <a:defRPr sz="1600">
                <a:solidFill>
                  <a:srgbClr val="F0F6FF"/>
                </a:solidFill>
                <a:latin typeface="Segoe UI"/>
              </a:defRPr>
            </a:pPr>
            <a:r>
              <a:t>• Trace + metrics review</a:t>
            </a:r>
          </a:p>
          <a:p>
            <a:pPr>
              <a:spcAft>
                <a:spcPts val="900"/>
              </a:spcAft>
              <a:defRPr sz="1600">
                <a:solidFill>
                  <a:srgbClr val="F0F6FF"/>
                </a:solidFill>
                <a:latin typeface="Segoe UI"/>
              </a:defRPr>
            </a:pPr>
            <a:r>
              <a:t>• Rollout recommendation</a:t>
            </a:r>
          </a:p>
        </p:txBody>
      </p:sp>
      <p:pic>
        <p:nvPicPr>
          <p:cNvPr id="9" name="WGL_Logo" descr="wegonelive_logo_only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91495" y="182880"/>
            <a:ext cx="1325880" cy="1060704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E1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20040"/>
            <a:ext cx="10972800" cy="10058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500">
                <a:solidFill>
                  <a:srgbClr val="F0F6FF"/>
                </a:solidFill>
                <a:latin typeface="Segoe UI Semibold"/>
              </a:defRPr>
            </a:pPr>
            <a:r>
              <a:t>Close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2240280"/>
            <a:ext cx="10789920" cy="43891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400"/>
              </a:spcAft>
              <a:defRPr sz="2200">
                <a:solidFill>
                  <a:srgbClr val="F0F6FF"/>
                </a:solidFill>
                <a:latin typeface="Segoe UI"/>
              </a:defRPr>
            </a:pPr>
            <a:r>
              <a:t>This platform supports premium live selling in categories where every close decision matters.</a:t>
            </a:r>
          </a:p>
          <a:p>
            <a:pPr>
              <a:spcAft>
                <a:spcPts val="1400"/>
              </a:spcAft>
              <a:defRPr sz="2200">
                <a:solidFill>
                  <a:srgbClr val="F0F6FF"/>
                </a:solidFill>
                <a:latin typeface="Segoe UI"/>
              </a:defRPr>
            </a:pPr>
            <a:r>
              <a:t>It delivers controlled execution, elegant operator flow, and confidence-grade governance.</a:t>
            </a:r>
          </a:p>
          <a:p>
            <a:pPr>
              <a:spcAft>
                <a:spcPts val="1400"/>
              </a:spcAft>
              <a:defRPr sz="2200">
                <a:solidFill>
                  <a:srgbClr val="F0F6FF"/>
                </a:solidFill>
                <a:latin typeface="Segoe UI"/>
              </a:defRPr>
            </a:pPr>
            <a:r>
              <a:t>Next step: align pilot design to your inventory profile and event cadence.</a:t>
            </a:r>
          </a:p>
        </p:txBody>
      </p:sp>
      <p:pic>
        <p:nvPicPr>
          <p:cNvPr id="4" name="WGL_Logo" descr="wegonelive_logo_only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91495" y="182880"/>
            <a:ext cx="1325880" cy="1060704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